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9FFD8F-D4B3-4EA6-8B28-2E4346BEDF42}" v="7" dt="2025-08-13T10:10:51.4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4" autoAdjust="0"/>
    <p:restoredTop sz="94660"/>
  </p:normalViewPr>
  <p:slideViewPr>
    <p:cSldViewPr snapToGrid="0">
      <p:cViewPr varScale="1">
        <p:scale>
          <a:sx n="105" d="100"/>
          <a:sy n="105" d="100"/>
        </p:scale>
        <p:origin x="6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ather Hopton - CED SPRCA" userId="24fc994b-25f1-48e1-837a-74f68de2aacd" providerId="ADAL" clId="{2F9FFD8F-D4B3-4EA6-8B28-2E4346BEDF42}"/>
    <pc:docChg chg="custSel delSld modSld">
      <pc:chgData name="Heather Hopton - CED SPRCA" userId="24fc994b-25f1-48e1-837a-74f68de2aacd" providerId="ADAL" clId="{2F9FFD8F-D4B3-4EA6-8B28-2E4346BEDF42}" dt="2025-08-15T12:52:36.975" v="800" actId="13926"/>
      <pc:docMkLst>
        <pc:docMk/>
      </pc:docMkLst>
      <pc:sldChg chg="del">
        <pc:chgData name="Heather Hopton - CED SPRCA" userId="24fc994b-25f1-48e1-837a-74f68de2aacd" providerId="ADAL" clId="{2F9FFD8F-D4B3-4EA6-8B28-2E4346BEDF42}" dt="2025-08-13T10:04:29.927" v="726" actId="47"/>
        <pc:sldMkLst>
          <pc:docMk/>
          <pc:sldMk cId="1139810057" sldId="256"/>
        </pc:sldMkLst>
      </pc:sldChg>
      <pc:sldChg chg="del">
        <pc:chgData name="Heather Hopton - CED SPRCA" userId="24fc994b-25f1-48e1-837a-74f68de2aacd" providerId="ADAL" clId="{2F9FFD8F-D4B3-4EA6-8B28-2E4346BEDF42}" dt="2025-08-13T10:00:37.857" v="649" actId="47"/>
        <pc:sldMkLst>
          <pc:docMk/>
          <pc:sldMk cId="2688960625" sldId="257"/>
        </pc:sldMkLst>
      </pc:sldChg>
      <pc:sldChg chg="addSp delSp modSp mod">
        <pc:chgData name="Heather Hopton - CED SPRCA" userId="24fc994b-25f1-48e1-837a-74f68de2aacd" providerId="ADAL" clId="{2F9FFD8F-D4B3-4EA6-8B28-2E4346BEDF42}" dt="2025-08-15T12:52:36.975" v="800" actId="13926"/>
        <pc:sldMkLst>
          <pc:docMk/>
          <pc:sldMk cId="1325371997" sldId="258"/>
        </pc:sldMkLst>
        <pc:spChg chg="mod">
          <ac:chgData name="Heather Hopton - CED SPRCA" userId="24fc994b-25f1-48e1-837a-74f68de2aacd" providerId="ADAL" clId="{2F9FFD8F-D4B3-4EA6-8B28-2E4346BEDF42}" dt="2025-08-13T09:47:15.480" v="640" actId="13822"/>
          <ac:spMkLst>
            <pc:docMk/>
            <pc:sldMk cId="1325371997" sldId="258"/>
            <ac:spMk id="19" creationId="{75BCFC02-2753-D9E9-0513-B7EB075ED783}"/>
          </ac:spMkLst>
        </pc:spChg>
        <pc:spChg chg="mod">
          <ac:chgData name="Heather Hopton - CED SPRCA" userId="24fc994b-25f1-48e1-837a-74f68de2aacd" providerId="ADAL" clId="{2F9FFD8F-D4B3-4EA6-8B28-2E4346BEDF42}" dt="2025-08-13T09:47:15.480" v="640" actId="13822"/>
          <ac:spMkLst>
            <pc:docMk/>
            <pc:sldMk cId="1325371997" sldId="258"/>
            <ac:spMk id="21" creationId="{F6572475-09E6-0792-7563-40FBE2576F62}"/>
          </ac:spMkLst>
        </pc:spChg>
        <pc:spChg chg="mod">
          <ac:chgData name="Heather Hopton - CED SPRCA" userId="24fc994b-25f1-48e1-837a-74f68de2aacd" providerId="ADAL" clId="{2F9FFD8F-D4B3-4EA6-8B28-2E4346BEDF42}" dt="2025-08-13T09:47:15.480" v="640" actId="13822"/>
          <ac:spMkLst>
            <pc:docMk/>
            <pc:sldMk cId="1325371997" sldId="258"/>
            <ac:spMk id="22" creationId="{A4701FD4-C8E5-03D7-D8CB-BE2F5F16244D}"/>
          </ac:spMkLst>
        </pc:spChg>
        <pc:spChg chg="mod">
          <ac:chgData name="Heather Hopton - CED SPRCA" userId="24fc994b-25f1-48e1-837a-74f68de2aacd" providerId="ADAL" clId="{2F9FFD8F-D4B3-4EA6-8B28-2E4346BEDF42}" dt="2025-08-15T12:23:24.958" v="798" actId="1076"/>
          <ac:spMkLst>
            <pc:docMk/>
            <pc:sldMk cId="1325371997" sldId="258"/>
            <ac:spMk id="26" creationId="{3BE69911-B140-E05E-09F3-925D3C30D8CB}"/>
          </ac:spMkLst>
        </pc:spChg>
        <pc:spChg chg="mod">
          <ac:chgData name="Heather Hopton - CED SPRCA" userId="24fc994b-25f1-48e1-837a-74f68de2aacd" providerId="ADAL" clId="{2F9FFD8F-D4B3-4EA6-8B28-2E4346BEDF42}" dt="2025-08-13T09:47:15.480" v="640" actId="13822"/>
          <ac:spMkLst>
            <pc:docMk/>
            <pc:sldMk cId="1325371997" sldId="258"/>
            <ac:spMk id="28" creationId="{73337F84-A578-5448-2741-5F7D1CBAEC4A}"/>
          </ac:spMkLst>
        </pc:spChg>
        <pc:spChg chg="mod">
          <ac:chgData name="Heather Hopton - CED SPRCA" userId="24fc994b-25f1-48e1-837a-74f68de2aacd" providerId="ADAL" clId="{2F9FFD8F-D4B3-4EA6-8B28-2E4346BEDF42}" dt="2025-08-13T09:47:15.480" v="640" actId="13822"/>
          <ac:spMkLst>
            <pc:docMk/>
            <pc:sldMk cId="1325371997" sldId="258"/>
            <ac:spMk id="29" creationId="{FF3D099F-8895-40A7-B281-6ABC7FE178D5}"/>
          </ac:spMkLst>
        </pc:spChg>
        <pc:spChg chg="mod">
          <ac:chgData name="Heather Hopton - CED SPRCA" userId="24fc994b-25f1-48e1-837a-74f68de2aacd" providerId="ADAL" clId="{2F9FFD8F-D4B3-4EA6-8B28-2E4346BEDF42}" dt="2025-08-13T09:47:15.480" v="640" actId="13822"/>
          <ac:spMkLst>
            <pc:docMk/>
            <pc:sldMk cId="1325371997" sldId="258"/>
            <ac:spMk id="30" creationId="{6B2512A6-EF74-BC38-A30F-3D236DE15BF6}"/>
          </ac:spMkLst>
        </pc:spChg>
        <pc:spChg chg="mod">
          <ac:chgData name="Heather Hopton - CED SPRCA" userId="24fc994b-25f1-48e1-837a-74f68de2aacd" providerId="ADAL" clId="{2F9FFD8F-D4B3-4EA6-8B28-2E4346BEDF42}" dt="2025-08-13T09:47:15.480" v="640" actId="13822"/>
          <ac:spMkLst>
            <pc:docMk/>
            <pc:sldMk cId="1325371997" sldId="258"/>
            <ac:spMk id="31" creationId="{3FAE4C24-8785-C540-3524-A4F52EE7F71C}"/>
          </ac:spMkLst>
        </pc:spChg>
        <pc:spChg chg="mod">
          <ac:chgData name="Heather Hopton - CED SPRCA" userId="24fc994b-25f1-48e1-837a-74f68de2aacd" providerId="ADAL" clId="{2F9FFD8F-D4B3-4EA6-8B28-2E4346BEDF42}" dt="2025-08-15T12:52:36.975" v="800" actId="13926"/>
          <ac:spMkLst>
            <pc:docMk/>
            <pc:sldMk cId="1325371997" sldId="258"/>
            <ac:spMk id="33" creationId="{203052A6-58EB-AC25-7E42-EFAF72A6D50B}"/>
          </ac:spMkLst>
        </pc:spChg>
        <pc:spChg chg="mod">
          <ac:chgData name="Heather Hopton - CED SPRCA" userId="24fc994b-25f1-48e1-837a-74f68de2aacd" providerId="ADAL" clId="{2F9FFD8F-D4B3-4EA6-8B28-2E4346BEDF42}" dt="2025-08-13T10:00:54.397" v="650" actId="2085"/>
          <ac:spMkLst>
            <pc:docMk/>
            <pc:sldMk cId="1325371997" sldId="258"/>
            <ac:spMk id="36" creationId="{8BF35AA9-CE01-090D-CF1B-8D2D35A7F47F}"/>
          </ac:spMkLst>
        </pc:spChg>
        <pc:spChg chg="add mod ord">
          <ac:chgData name="Heather Hopton - CED SPRCA" userId="24fc994b-25f1-48e1-837a-74f68de2aacd" providerId="ADAL" clId="{2F9FFD8F-D4B3-4EA6-8B28-2E4346BEDF42}" dt="2025-08-13T09:48:15.428" v="647" actId="167"/>
          <ac:spMkLst>
            <pc:docMk/>
            <pc:sldMk cId="1325371997" sldId="258"/>
            <ac:spMk id="37" creationId="{BBD56A30-8C95-27A5-DED4-A1267708FD52}"/>
          </ac:spMkLst>
        </pc:spChg>
        <pc:spChg chg="add mod ord">
          <ac:chgData name="Heather Hopton - CED SPRCA" userId="24fc994b-25f1-48e1-837a-74f68de2aacd" providerId="ADAL" clId="{2F9FFD8F-D4B3-4EA6-8B28-2E4346BEDF42}" dt="2025-08-13T09:48:19.499" v="648" actId="167"/>
          <ac:spMkLst>
            <pc:docMk/>
            <pc:sldMk cId="1325371997" sldId="258"/>
            <ac:spMk id="38" creationId="{7DFF0115-3796-464C-9D3D-E88F18BD8532}"/>
          </ac:spMkLst>
        </pc:spChg>
        <pc:spChg chg="add del mod">
          <ac:chgData name="Heather Hopton - CED SPRCA" userId="24fc994b-25f1-48e1-837a-74f68de2aacd" providerId="ADAL" clId="{2F9FFD8F-D4B3-4EA6-8B28-2E4346BEDF42}" dt="2025-08-15T12:23:32.857" v="799" actId="478"/>
          <ac:spMkLst>
            <pc:docMk/>
            <pc:sldMk cId="1325371997" sldId="258"/>
            <ac:spMk id="39" creationId="{BA707383-D5A1-46B6-62DA-A4756C142D5E}"/>
          </ac:spMkLst>
        </pc:spChg>
        <pc:grpChg chg="mod">
          <ac:chgData name="Heather Hopton - CED SPRCA" userId="24fc994b-25f1-48e1-837a-74f68de2aacd" providerId="ADAL" clId="{2F9FFD8F-D4B3-4EA6-8B28-2E4346BEDF42}" dt="2025-08-13T09:02:03.781" v="7" actId="1076"/>
          <ac:grpSpMkLst>
            <pc:docMk/>
            <pc:sldMk cId="1325371997" sldId="258"/>
            <ac:grpSpMk id="8" creationId="{B89FF73C-286D-DB70-F089-F87987A93801}"/>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5FD23-668D-296F-04C6-35B747FF58E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EE68078F-6A70-2597-2787-AF0D88ADF7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47AAB6C7-E55C-4F5D-8B96-056620D1C687}"/>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5" name="Footer Placeholder 4">
            <a:extLst>
              <a:ext uri="{FF2B5EF4-FFF2-40B4-BE49-F238E27FC236}">
                <a16:creationId xmlns:a16="http://schemas.microsoft.com/office/drawing/2014/main" id="{CF8AC05A-BE16-82DE-C196-D058E02538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A9353D-6DB3-9BE2-C7CF-F90DD4D2CD5B}"/>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2421383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D46B0-D923-232D-05D4-C13E2C2A77F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82E9B3C-580A-2018-DC9E-D2F3D773769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B9702A3-4F31-DF6C-2F80-505CA1047406}"/>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5" name="Footer Placeholder 4">
            <a:extLst>
              <a:ext uri="{FF2B5EF4-FFF2-40B4-BE49-F238E27FC236}">
                <a16:creationId xmlns:a16="http://schemas.microsoft.com/office/drawing/2014/main" id="{3FBB9609-470E-F4F9-C8A8-614AEAC76A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AB7F3C-3E6A-1B17-0690-2C211766933A}"/>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1061338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73784-CF73-1767-9AF0-DBA4A85DD7A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CEBCF256-CA04-7CBE-C7E8-4DA9A6A6C5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2B3B00B-B3B0-F98E-DF97-D80403BAB825}"/>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5" name="Footer Placeholder 4">
            <a:extLst>
              <a:ext uri="{FF2B5EF4-FFF2-40B4-BE49-F238E27FC236}">
                <a16:creationId xmlns:a16="http://schemas.microsoft.com/office/drawing/2014/main" id="{0A805BB6-E180-0894-4A67-C965E34180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996893-4887-AE5A-EE04-5B4071D375E1}"/>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2566058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F345-7AB9-95E1-B5B9-86BCBFC9F97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6694FEF-7407-D05D-F956-B5369B5566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DECFF38-CF5A-DB8B-6637-B1D242C3906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3B8999F-F1C2-F856-2237-DA4E9C5BDD28}"/>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6" name="Footer Placeholder 5">
            <a:extLst>
              <a:ext uri="{FF2B5EF4-FFF2-40B4-BE49-F238E27FC236}">
                <a16:creationId xmlns:a16="http://schemas.microsoft.com/office/drawing/2014/main" id="{6706D0A5-5E66-5017-1753-9E4AEDE18CA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969EB54-BA4F-E0FC-933F-B2F62F3F719B}"/>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189905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3E732-766C-8120-EB3B-8C535498F27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E95EFAE4-1981-2CD2-B51B-5410A29C32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EDF2C4D-635C-BCE4-AC5D-0151897455C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E2BFFBF-37AB-4C64-260B-E455E1B0BB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A229AC9-9CD0-509E-0A11-D8CB3A7ED5E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8E0F1929-B002-C105-14AD-82681490A944}"/>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8" name="Footer Placeholder 7">
            <a:extLst>
              <a:ext uri="{FF2B5EF4-FFF2-40B4-BE49-F238E27FC236}">
                <a16:creationId xmlns:a16="http://schemas.microsoft.com/office/drawing/2014/main" id="{CA7CDD2C-2415-1287-9315-8E0F26A2E34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CCB5CC1-5F90-5840-A764-0F0C3F7098AA}"/>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535002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743FA-E0FD-4185-8D03-35E5F3E89D71}"/>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5077950C-0A3B-6886-624E-995B7AB199A5}"/>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4" name="Footer Placeholder 3">
            <a:extLst>
              <a:ext uri="{FF2B5EF4-FFF2-40B4-BE49-F238E27FC236}">
                <a16:creationId xmlns:a16="http://schemas.microsoft.com/office/drawing/2014/main" id="{42316267-5321-AA56-8CED-6ABBF507FEA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808F0F1-9F28-017F-F4C7-13B9DA78D417}"/>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495616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D25DE-CBF2-432C-22FB-867D728B398E}"/>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3" name="Footer Placeholder 2">
            <a:extLst>
              <a:ext uri="{FF2B5EF4-FFF2-40B4-BE49-F238E27FC236}">
                <a16:creationId xmlns:a16="http://schemas.microsoft.com/office/drawing/2014/main" id="{F73C6973-2FE8-3F03-1A8E-2AC85EE7126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8800BD-07EE-9705-AD26-292E0C71E092}"/>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2955830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BB86-9F8E-4521-0ADB-6E5C9911C5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F5A1BF3C-FFE3-A716-F111-93080B2DB8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AF991B1-D3AB-BBAF-74A2-CA821F7B3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035FD76-524B-2536-1E6F-9AB729762608}"/>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6" name="Footer Placeholder 5">
            <a:extLst>
              <a:ext uri="{FF2B5EF4-FFF2-40B4-BE49-F238E27FC236}">
                <a16:creationId xmlns:a16="http://schemas.microsoft.com/office/drawing/2014/main" id="{9146AAD5-4807-8B47-1A89-2BFA156C2F3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872BAB4-F3F7-2419-05DF-B35E66979304}"/>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97469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5C53-AB07-174E-8750-505244F255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AD51CFA-172D-53DF-197E-70DD1CE542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8DEAFCE-F8E2-E32B-8051-DFD5E2705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AAB39F6-244D-4D77-A2C1-98934FC1E3D1}"/>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6" name="Footer Placeholder 5">
            <a:extLst>
              <a:ext uri="{FF2B5EF4-FFF2-40B4-BE49-F238E27FC236}">
                <a16:creationId xmlns:a16="http://schemas.microsoft.com/office/drawing/2014/main" id="{C7358920-E7BF-63DE-80EE-06C154C635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2F4E52-218E-248C-1BAC-C68FC4B21F05}"/>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1685290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4EBAE-D417-778A-8078-529AD08E5FC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6D77F80-D4C0-299E-6F1B-DC7E307D879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C4F97F2-9F79-1BF6-8946-A2204E25EB01}"/>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5" name="Footer Placeholder 4">
            <a:extLst>
              <a:ext uri="{FF2B5EF4-FFF2-40B4-BE49-F238E27FC236}">
                <a16:creationId xmlns:a16="http://schemas.microsoft.com/office/drawing/2014/main" id="{2F990E79-A353-1E08-AF61-FF8834296A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012014-311D-5945-EB5D-A3EFAA3E8EBC}"/>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3551209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6E0110-641E-1EC6-EF42-A5C7259C5294}"/>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C173D2B8-7932-BD27-BF9A-46AA44ADDA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78C8D96-1A45-F6A6-6968-8A7D98C47B7D}"/>
              </a:ext>
            </a:extLst>
          </p:cNvPr>
          <p:cNvSpPr>
            <a:spLocks noGrp="1"/>
          </p:cNvSpPr>
          <p:nvPr>
            <p:ph type="dt" sz="half" idx="10"/>
          </p:nvPr>
        </p:nvSpPr>
        <p:spPr/>
        <p:txBody>
          <a:bodyPr/>
          <a:lstStyle/>
          <a:p>
            <a:fld id="{4E2C3D09-C784-4F71-8642-E915D8A9DA9F}" type="datetimeFigureOut">
              <a:rPr lang="en-GB" smtClean="0"/>
              <a:t>15/08/2025</a:t>
            </a:fld>
            <a:endParaRPr lang="en-GB"/>
          </a:p>
        </p:txBody>
      </p:sp>
      <p:sp>
        <p:nvSpPr>
          <p:cNvPr id="5" name="Footer Placeholder 4">
            <a:extLst>
              <a:ext uri="{FF2B5EF4-FFF2-40B4-BE49-F238E27FC236}">
                <a16:creationId xmlns:a16="http://schemas.microsoft.com/office/drawing/2014/main" id="{FF8622AD-927D-EB62-2B29-5F21EA342A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94779D-2583-7B61-AA2A-E9EE2A6636AB}"/>
              </a:ext>
            </a:extLst>
          </p:cNvPr>
          <p:cNvSpPr>
            <a:spLocks noGrp="1"/>
          </p:cNvSpPr>
          <p:nvPr>
            <p:ph type="sldNum" sz="quarter" idx="12"/>
          </p:nvPr>
        </p:nvSpPr>
        <p:spPr/>
        <p:txBody>
          <a:bodyPr/>
          <a:lstStyle/>
          <a:p>
            <a:fld id="{DA156163-2E85-4BCC-A039-0FF4E52FF6A8}" type="slidenum">
              <a:rPr lang="en-GB" smtClean="0"/>
              <a:t>‹#›</a:t>
            </a:fld>
            <a:endParaRPr lang="en-GB"/>
          </a:p>
        </p:txBody>
      </p:sp>
    </p:spTree>
    <p:extLst>
      <p:ext uri="{BB962C8B-B14F-4D97-AF65-F5344CB8AC3E}">
        <p14:creationId xmlns:p14="http://schemas.microsoft.com/office/powerpoint/2010/main" val="1395437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2852BE-324A-6501-DD1F-31D30DE09F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E43FF6C-182C-495E-EFC7-4393932AB7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0466254-70ED-0261-4A48-0C078073F7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2C3D09-C784-4F71-8642-E915D8A9DA9F}" type="datetimeFigureOut">
              <a:rPr lang="en-GB" smtClean="0"/>
              <a:t>15/08/2025</a:t>
            </a:fld>
            <a:endParaRPr lang="en-GB"/>
          </a:p>
        </p:txBody>
      </p:sp>
      <p:sp>
        <p:nvSpPr>
          <p:cNvPr id="5" name="Footer Placeholder 4">
            <a:extLst>
              <a:ext uri="{FF2B5EF4-FFF2-40B4-BE49-F238E27FC236}">
                <a16:creationId xmlns:a16="http://schemas.microsoft.com/office/drawing/2014/main" id="{612E026A-3706-991F-25F2-CCDEED6774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7E607B0-6848-476E-F45A-2D9EF436CB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156163-2E85-4BCC-A039-0FF4E52FF6A8}" type="slidenum">
              <a:rPr lang="en-GB" smtClean="0"/>
              <a:t>‹#›</a:t>
            </a:fld>
            <a:endParaRPr lang="en-GB"/>
          </a:p>
        </p:txBody>
      </p:sp>
    </p:spTree>
    <p:extLst>
      <p:ext uri="{BB962C8B-B14F-4D97-AF65-F5344CB8AC3E}">
        <p14:creationId xmlns:p14="http://schemas.microsoft.com/office/powerpoint/2010/main" val="3568636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B1E3A-89DC-ACBD-717A-D1A19A981910}"/>
            </a:ext>
          </a:extLst>
        </p:cNvPr>
        <p:cNvGrpSpPr/>
        <p:nvPr/>
      </p:nvGrpSpPr>
      <p:grpSpPr>
        <a:xfrm>
          <a:off x="0" y="0"/>
          <a:ext cx="0" cy="0"/>
          <a:chOff x="0" y="0"/>
          <a:chExt cx="0" cy="0"/>
        </a:xfrm>
      </p:grpSpPr>
      <p:sp>
        <p:nvSpPr>
          <p:cNvPr id="38" name="Arrow: Down 37">
            <a:extLst>
              <a:ext uri="{FF2B5EF4-FFF2-40B4-BE49-F238E27FC236}">
                <a16:creationId xmlns:a16="http://schemas.microsoft.com/office/drawing/2014/main" id="{7DFF0115-3796-464C-9D3D-E88F18BD8532}"/>
              </a:ext>
            </a:extLst>
          </p:cNvPr>
          <p:cNvSpPr/>
          <p:nvPr/>
        </p:nvSpPr>
        <p:spPr>
          <a:xfrm rot="16200000">
            <a:off x="6820524" y="4392395"/>
            <a:ext cx="256544" cy="10096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Arrow: Down 36">
            <a:extLst>
              <a:ext uri="{FF2B5EF4-FFF2-40B4-BE49-F238E27FC236}">
                <a16:creationId xmlns:a16="http://schemas.microsoft.com/office/drawing/2014/main" id="{BBD56A30-8C95-27A5-DED4-A1267708FD52}"/>
              </a:ext>
            </a:extLst>
          </p:cNvPr>
          <p:cNvSpPr/>
          <p:nvPr/>
        </p:nvSpPr>
        <p:spPr>
          <a:xfrm rot="16200000">
            <a:off x="6820525" y="1666758"/>
            <a:ext cx="256544" cy="100965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8" name="Group 7">
            <a:extLst>
              <a:ext uri="{FF2B5EF4-FFF2-40B4-BE49-F238E27FC236}">
                <a16:creationId xmlns:a16="http://schemas.microsoft.com/office/drawing/2014/main" id="{B89FF73C-286D-DB70-F089-F87987A93801}"/>
              </a:ext>
            </a:extLst>
          </p:cNvPr>
          <p:cNvGrpSpPr/>
          <p:nvPr/>
        </p:nvGrpSpPr>
        <p:grpSpPr>
          <a:xfrm>
            <a:off x="7469288" y="535635"/>
            <a:ext cx="1584960" cy="6175848"/>
            <a:chOff x="7355840" y="640080"/>
            <a:chExt cx="1503680" cy="5542280"/>
          </a:xfrm>
        </p:grpSpPr>
        <p:sp>
          <p:nvSpPr>
            <p:cNvPr id="4" name="Rectangle 3">
              <a:extLst>
                <a:ext uri="{FF2B5EF4-FFF2-40B4-BE49-F238E27FC236}">
                  <a16:creationId xmlns:a16="http://schemas.microsoft.com/office/drawing/2014/main" id="{27A87297-6FAF-92E4-1995-8DAA6F481BC4}"/>
                </a:ext>
              </a:extLst>
            </p:cNvPr>
            <p:cNvSpPr/>
            <p:nvPr/>
          </p:nvSpPr>
          <p:spPr>
            <a:xfrm>
              <a:off x="7355840" y="640080"/>
              <a:ext cx="150368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 conditions</a:t>
              </a:r>
            </a:p>
          </p:txBody>
        </p:sp>
        <p:sp>
          <p:nvSpPr>
            <p:cNvPr id="5" name="Rectangle 4">
              <a:extLst>
                <a:ext uri="{FF2B5EF4-FFF2-40B4-BE49-F238E27FC236}">
                  <a16:creationId xmlns:a16="http://schemas.microsoft.com/office/drawing/2014/main" id="{592BC412-1293-B501-D879-B09C1A2D3C60}"/>
                </a:ext>
              </a:extLst>
            </p:cNvPr>
            <p:cNvSpPr/>
            <p:nvPr/>
          </p:nvSpPr>
          <p:spPr>
            <a:xfrm>
              <a:off x="7355840" y="3048000"/>
              <a:ext cx="150368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Single conditions</a:t>
              </a:r>
            </a:p>
          </p:txBody>
        </p:sp>
        <p:sp>
          <p:nvSpPr>
            <p:cNvPr id="6" name="Rectangle 5">
              <a:extLst>
                <a:ext uri="{FF2B5EF4-FFF2-40B4-BE49-F238E27FC236}">
                  <a16:creationId xmlns:a16="http://schemas.microsoft.com/office/drawing/2014/main" id="{D5FB5665-756E-EA73-184C-8355FDC522C7}"/>
                </a:ext>
              </a:extLst>
            </p:cNvPr>
            <p:cNvSpPr/>
            <p:nvPr/>
          </p:nvSpPr>
          <p:spPr>
            <a:xfrm>
              <a:off x="7355840" y="5420360"/>
              <a:ext cx="150368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Multiple conditions</a:t>
              </a:r>
            </a:p>
          </p:txBody>
        </p:sp>
        <p:sp>
          <p:nvSpPr>
            <p:cNvPr id="16" name="Arrow: Down 15">
              <a:extLst>
                <a:ext uri="{FF2B5EF4-FFF2-40B4-BE49-F238E27FC236}">
                  <a16:creationId xmlns:a16="http://schemas.microsoft.com/office/drawing/2014/main" id="{C040645B-C4BF-C948-176A-0E2AAF08274D}"/>
                </a:ext>
              </a:extLst>
            </p:cNvPr>
            <p:cNvSpPr/>
            <p:nvPr/>
          </p:nvSpPr>
          <p:spPr>
            <a:xfrm>
              <a:off x="7879080" y="1412240"/>
              <a:ext cx="457200" cy="16357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Arrow: Down 16">
              <a:extLst>
                <a:ext uri="{FF2B5EF4-FFF2-40B4-BE49-F238E27FC236}">
                  <a16:creationId xmlns:a16="http://schemas.microsoft.com/office/drawing/2014/main" id="{EF63F2C0-3B5B-D14B-4E74-D2C205FA483D}"/>
                </a:ext>
              </a:extLst>
            </p:cNvPr>
            <p:cNvSpPr/>
            <p:nvPr/>
          </p:nvSpPr>
          <p:spPr>
            <a:xfrm>
              <a:off x="7879080" y="3820160"/>
              <a:ext cx="457200" cy="16357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0CC3292A-957E-0736-CFF9-9F3F1FC78F01}"/>
                </a:ext>
              </a:extLst>
            </p:cNvPr>
            <p:cNvSpPr/>
            <p:nvPr/>
          </p:nvSpPr>
          <p:spPr>
            <a:xfrm>
              <a:off x="7355840" y="1948181"/>
              <a:ext cx="1503680" cy="320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Rate of flow</a:t>
              </a:r>
            </a:p>
          </p:txBody>
        </p:sp>
        <p:sp>
          <p:nvSpPr>
            <p:cNvPr id="25" name="Rectangle 24">
              <a:extLst>
                <a:ext uri="{FF2B5EF4-FFF2-40B4-BE49-F238E27FC236}">
                  <a16:creationId xmlns:a16="http://schemas.microsoft.com/office/drawing/2014/main" id="{1F6E74B0-1D1E-F224-12AD-C51DFFF49615}"/>
                </a:ext>
              </a:extLst>
            </p:cNvPr>
            <p:cNvSpPr/>
            <p:nvPr/>
          </p:nvSpPr>
          <p:spPr>
            <a:xfrm>
              <a:off x="7355840" y="4394199"/>
              <a:ext cx="1503680" cy="320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Rate of flow</a:t>
              </a:r>
            </a:p>
          </p:txBody>
        </p:sp>
      </p:grpSp>
      <p:sp>
        <p:nvSpPr>
          <p:cNvPr id="26" name="Rectangle 25">
            <a:extLst>
              <a:ext uri="{FF2B5EF4-FFF2-40B4-BE49-F238E27FC236}">
                <a16:creationId xmlns:a16="http://schemas.microsoft.com/office/drawing/2014/main" id="{3BE69911-B140-E05E-09F3-925D3C30D8CB}"/>
              </a:ext>
            </a:extLst>
          </p:cNvPr>
          <p:cNvSpPr/>
          <p:nvPr/>
        </p:nvSpPr>
        <p:spPr>
          <a:xfrm>
            <a:off x="209126" y="695017"/>
            <a:ext cx="6222988" cy="2820416"/>
          </a:xfrm>
          <a:prstGeom prst="rect">
            <a:avLst/>
          </a:prstGeom>
          <a:solidFill>
            <a:schemeClr val="tx2">
              <a:lumMod val="10000"/>
              <a:lumOff val="90000"/>
            </a:schemeClr>
          </a:solidFill>
        </p:spPr>
        <p:style>
          <a:lnRef idx="1">
            <a:schemeClr val="accent1"/>
          </a:lnRef>
          <a:fillRef idx="2">
            <a:schemeClr val="accent1"/>
          </a:fillRef>
          <a:effectRef idx="1">
            <a:schemeClr val="accent1"/>
          </a:effectRef>
          <a:fontRef idx="minor">
            <a:schemeClr val="dk1"/>
          </a:fontRef>
        </p:style>
        <p:txBody>
          <a:bodyPr rtlCol="0" anchor="ctr"/>
          <a:lstStyle/>
          <a:p>
            <a:r>
              <a:rPr lang="en-GB" sz="1400" dirty="0"/>
              <a:t>The incidence rate of each condition is acted on by other components of the model. The Single Incidence Rate is multiplied by proportional changes according to:</a:t>
            </a:r>
          </a:p>
          <a:p>
            <a:pPr marL="285750" indent="-285750">
              <a:buFont typeface="Arial" panose="020B0604020202020204" pitchFamily="34" charset="0"/>
              <a:buChar char="•"/>
            </a:pPr>
            <a:r>
              <a:rPr lang="en-GB" sz="1400" dirty="0"/>
              <a:t>Impact of C19 (increases risk of CHD, Diabetes, HF and Stroke for a proportion of the population)</a:t>
            </a:r>
          </a:p>
          <a:p>
            <a:pPr marL="285750" indent="-285750">
              <a:buFont typeface="Arial" panose="020B0604020202020204" pitchFamily="34" charset="0"/>
              <a:buChar char="•"/>
            </a:pPr>
            <a:r>
              <a:rPr lang="en-GB" sz="1400" dirty="0"/>
              <a:t>Change in prevalence of risk factors (this is applied through changing the PAF of each condition attributed to each risk factor across the whole population and can be applied through an intervention or a trend in behaviour)</a:t>
            </a:r>
          </a:p>
          <a:p>
            <a:pPr marL="285750" indent="-285750">
              <a:buFont typeface="Arial" panose="020B0604020202020204" pitchFamily="34" charset="0"/>
              <a:buChar char="•"/>
            </a:pPr>
            <a:r>
              <a:rPr lang="en-GB" sz="1400" dirty="0"/>
              <a:t>Relative reduction in a condition as a result of the health checks module</a:t>
            </a:r>
          </a:p>
          <a:p>
            <a:pPr marL="285750" indent="-285750">
              <a:buFont typeface="Arial" panose="020B0604020202020204" pitchFamily="34" charset="0"/>
              <a:buChar char="•"/>
            </a:pPr>
            <a:r>
              <a:rPr lang="en-GB" sz="1400" dirty="0"/>
              <a:t>Adjustments for IMD</a:t>
            </a:r>
          </a:p>
          <a:p>
            <a:pPr marL="285750" indent="-285750">
              <a:buFont typeface="Arial" panose="020B0604020202020204" pitchFamily="34" charset="0"/>
              <a:buChar char="•"/>
            </a:pPr>
            <a:r>
              <a:rPr lang="en-GB" sz="1400" dirty="0"/>
              <a:t>Some adjustments to prevalence to better match reality</a:t>
            </a:r>
          </a:p>
        </p:txBody>
      </p:sp>
      <p:sp>
        <p:nvSpPr>
          <p:cNvPr id="27" name="TextBox 26">
            <a:extLst>
              <a:ext uri="{FF2B5EF4-FFF2-40B4-BE49-F238E27FC236}">
                <a16:creationId xmlns:a16="http://schemas.microsoft.com/office/drawing/2014/main" id="{481DA54D-E215-A2F3-3276-F64B9D0B9E8B}"/>
              </a:ext>
            </a:extLst>
          </p:cNvPr>
          <p:cNvSpPr txBox="1"/>
          <p:nvPr/>
        </p:nvSpPr>
        <p:spPr>
          <a:xfrm>
            <a:off x="9625784" y="1811069"/>
            <a:ext cx="2164080" cy="954107"/>
          </a:xfrm>
          <a:prstGeom prst="rect">
            <a:avLst/>
          </a:prstGeom>
          <a:noFill/>
          <a:ln>
            <a:solidFill>
              <a:schemeClr val="tx1"/>
            </a:solidFill>
          </a:ln>
        </p:spPr>
        <p:txBody>
          <a:bodyPr wrap="square" rtlCol="0">
            <a:spAutoFit/>
          </a:bodyPr>
          <a:lstStyle/>
          <a:p>
            <a:r>
              <a:rPr lang="en-GB" sz="1400" dirty="0"/>
              <a:t>People with no conditions are less likely to die so this death rate is multiplied by  0.45</a:t>
            </a:r>
          </a:p>
        </p:txBody>
      </p:sp>
      <p:sp>
        <p:nvSpPr>
          <p:cNvPr id="33" name="Rectangle 32">
            <a:extLst>
              <a:ext uri="{FF2B5EF4-FFF2-40B4-BE49-F238E27FC236}">
                <a16:creationId xmlns:a16="http://schemas.microsoft.com/office/drawing/2014/main" id="{203052A6-58EB-AC25-7E42-EFAF72A6D50B}"/>
              </a:ext>
            </a:extLst>
          </p:cNvPr>
          <p:cNvSpPr/>
          <p:nvPr/>
        </p:nvSpPr>
        <p:spPr>
          <a:xfrm>
            <a:off x="220980" y="3657137"/>
            <a:ext cx="6222988" cy="2606503"/>
          </a:xfrm>
          <a:prstGeom prst="rect">
            <a:avLst/>
          </a:prstGeom>
          <a:solidFill>
            <a:schemeClr val="tx2">
              <a:lumMod val="10000"/>
              <a:lumOff val="90000"/>
            </a:schemeClr>
          </a:solidFill>
        </p:spPr>
        <p:style>
          <a:lnRef idx="1">
            <a:schemeClr val="accent1"/>
          </a:lnRef>
          <a:fillRef idx="2">
            <a:schemeClr val="accent1"/>
          </a:fillRef>
          <a:effectRef idx="1">
            <a:schemeClr val="accent1"/>
          </a:effectRef>
          <a:fontRef idx="minor">
            <a:schemeClr val="dk1"/>
          </a:fontRef>
        </p:style>
        <p:txBody>
          <a:bodyPr rtlCol="0" anchor="ctr"/>
          <a:lstStyle/>
          <a:p>
            <a:r>
              <a:rPr lang="en-GB" sz="1400" dirty="0"/>
              <a:t>The Single to Multiple Incidence Rate sets the rate at which someone with each single condition is likely to acquire each other condition. This is multiplied by proportional changes according to:</a:t>
            </a:r>
          </a:p>
          <a:p>
            <a:pPr marL="285750" indent="-285750">
              <a:buFont typeface="Arial" panose="020B0604020202020204" pitchFamily="34" charset="0"/>
              <a:buChar char="•"/>
            </a:pPr>
            <a:r>
              <a:rPr lang="en-GB" sz="1400" dirty="0"/>
              <a:t>Impact of C19 (increases risk of CHD, Diabetes, HF and Stroke for a proportion of the population and changes risk of behavioural risk factors)  </a:t>
            </a:r>
          </a:p>
          <a:p>
            <a:pPr marL="285750" indent="-285750">
              <a:buFont typeface="Arial" panose="020B0604020202020204" pitchFamily="34" charset="0"/>
              <a:buChar char="•"/>
            </a:pPr>
            <a:r>
              <a:rPr lang="en-GB" sz="1400" dirty="0"/>
              <a:t>Change in prevalence of risk factors as above plus an adjustment for the risk of multiple conditions i.e. diminishing benefits of reducing risk factors on the risk of subsequent conditions</a:t>
            </a:r>
          </a:p>
          <a:p>
            <a:pPr marL="285750" indent="-285750">
              <a:buFont typeface="Arial" panose="020B0604020202020204" pitchFamily="34" charset="0"/>
              <a:buChar char="•"/>
            </a:pPr>
            <a:r>
              <a:rPr lang="en-GB" sz="1400" dirty="0"/>
              <a:t>Relative reduction in a condition as a result of the health checks module</a:t>
            </a:r>
          </a:p>
          <a:p>
            <a:pPr marL="285750" indent="-285750">
              <a:buFont typeface="Arial" panose="020B0604020202020204" pitchFamily="34" charset="0"/>
              <a:buChar char="•"/>
            </a:pPr>
            <a:r>
              <a:rPr lang="en-GB" sz="1400" dirty="0"/>
              <a:t>Adjustments for IMD</a:t>
            </a:r>
          </a:p>
          <a:p>
            <a:pPr marL="285750" indent="-285750">
              <a:buFont typeface="Arial" panose="020B0604020202020204" pitchFamily="34" charset="0"/>
              <a:buChar char="•"/>
            </a:pPr>
            <a:r>
              <a:rPr lang="en-GB" sz="1400" dirty="0"/>
              <a:t>Age – only people over 50 can develop multiple conditions</a:t>
            </a:r>
          </a:p>
        </p:txBody>
      </p:sp>
      <p:sp>
        <p:nvSpPr>
          <p:cNvPr id="2" name="Rectangle 1">
            <a:extLst>
              <a:ext uri="{FF2B5EF4-FFF2-40B4-BE49-F238E27FC236}">
                <a16:creationId xmlns:a16="http://schemas.microsoft.com/office/drawing/2014/main" id="{B49BE4C6-CB05-1377-7E5F-5583AE776FDC}"/>
              </a:ext>
            </a:extLst>
          </p:cNvPr>
          <p:cNvSpPr/>
          <p:nvPr/>
        </p:nvSpPr>
        <p:spPr>
          <a:xfrm>
            <a:off x="10254851" y="479587"/>
            <a:ext cx="1503680" cy="283407"/>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Births</a:t>
            </a:r>
          </a:p>
        </p:txBody>
      </p:sp>
      <p:sp>
        <p:nvSpPr>
          <p:cNvPr id="3" name="Rectangle 2">
            <a:extLst>
              <a:ext uri="{FF2B5EF4-FFF2-40B4-BE49-F238E27FC236}">
                <a16:creationId xmlns:a16="http://schemas.microsoft.com/office/drawing/2014/main" id="{CBE624A2-D9CC-951A-6F45-EB0970EA1E14}"/>
              </a:ext>
            </a:extLst>
          </p:cNvPr>
          <p:cNvSpPr/>
          <p:nvPr/>
        </p:nvSpPr>
        <p:spPr>
          <a:xfrm>
            <a:off x="10254853" y="830009"/>
            <a:ext cx="1503680" cy="283407"/>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Migration</a:t>
            </a:r>
          </a:p>
        </p:txBody>
      </p:sp>
      <p:sp>
        <p:nvSpPr>
          <p:cNvPr id="7" name="Rectangle 6">
            <a:extLst>
              <a:ext uri="{FF2B5EF4-FFF2-40B4-BE49-F238E27FC236}">
                <a16:creationId xmlns:a16="http://schemas.microsoft.com/office/drawing/2014/main" id="{D542F544-F214-7B51-9A8A-0BF8B88D243D}"/>
              </a:ext>
            </a:extLst>
          </p:cNvPr>
          <p:cNvSpPr/>
          <p:nvPr/>
        </p:nvSpPr>
        <p:spPr>
          <a:xfrm>
            <a:off x="10254851" y="1225192"/>
            <a:ext cx="1503680" cy="321576"/>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Deaths</a:t>
            </a:r>
          </a:p>
        </p:txBody>
      </p:sp>
      <p:sp>
        <p:nvSpPr>
          <p:cNvPr id="10" name="Rectangle 9">
            <a:extLst>
              <a:ext uri="{FF2B5EF4-FFF2-40B4-BE49-F238E27FC236}">
                <a16:creationId xmlns:a16="http://schemas.microsoft.com/office/drawing/2014/main" id="{A795ADFD-9DD5-DE6C-C888-03BBBBFE5C1B}"/>
              </a:ext>
            </a:extLst>
          </p:cNvPr>
          <p:cNvSpPr/>
          <p:nvPr/>
        </p:nvSpPr>
        <p:spPr>
          <a:xfrm>
            <a:off x="10254851" y="3373730"/>
            <a:ext cx="1503680" cy="283407"/>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Migration</a:t>
            </a:r>
          </a:p>
        </p:txBody>
      </p:sp>
      <p:sp>
        <p:nvSpPr>
          <p:cNvPr id="11" name="Rectangle 10">
            <a:extLst>
              <a:ext uri="{FF2B5EF4-FFF2-40B4-BE49-F238E27FC236}">
                <a16:creationId xmlns:a16="http://schemas.microsoft.com/office/drawing/2014/main" id="{4AA6BB02-EBA7-7EA3-B96D-41B291B9A50F}"/>
              </a:ext>
            </a:extLst>
          </p:cNvPr>
          <p:cNvSpPr/>
          <p:nvPr/>
        </p:nvSpPr>
        <p:spPr>
          <a:xfrm>
            <a:off x="10254851" y="3801426"/>
            <a:ext cx="1503680" cy="321576"/>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Deaths</a:t>
            </a:r>
          </a:p>
        </p:txBody>
      </p:sp>
      <p:sp>
        <p:nvSpPr>
          <p:cNvPr id="14" name="Rectangle 13">
            <a:extLst>
              <a:ext uri="{FF2B5EF4-FFF2-40B4-BE49-F238E27FC236}">
                <a16:creationId xmlns:a16="http://schemas.microsoft.com/office/drawing/2014/main" id="{229143C4-A62C-E62C-9DFD-327FF4D5FA68}"/>
              </a:ext>
            </a:extLst>
          </p:cNvPr>
          <p:cNvSpPr/>
          <p:nvPr/>
        </p:nvSpPr>
        <p:spPr>
          <a:xfrm>
            <a:off x="10254851" y="5917452"/>
            <a:ext cx="1503680" cy="283407"/>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Migration</a:t>
            </a:r>
          </a:p>
        </p:txBody>
      </p:sp>
      <p:sp>
        <p:nvSpPr>
          <p:cNvPr id="15" name="Rectangle 14">
            <a:extLst>
              <a:ext uri="{FF2B5EF4-FFF2-40B4-BE49-F238E27FC236}">
                <a16:creationId xmlns:a16="http://schemas.microsoft.com/office/drawing/2014/main" id="{0578D655-74AA-60C3-BA90-C5E8240C9335}"/>
              </a:ext>
            </a:extLst>
          </p:cNvPr>
          <p:cNvSpPr/>
          <p:nvPr/>
        </p:nvSpPr>
        <p:spPr>
          <a:xfrm>
            <a:off x="10254851" y="6389907"/>
            <a:ext cx="1503680" cy="321576"/>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Deaths</a:t>
            </a:r>
          </a:p>
        </p:txBody>
      </p:sp>
      <p:sp>
        <p:nvSpPr>
          <p:cNvPr id="19" name="Arrow: Left-Right 18">
            <a:extLst>
              <a:ext uri="{FF2B5EF4-FFF2-40B4-BE49-F238E27FC236}">
                <a16:creationId xmlns:a16="http://schemas.microsoft.com/office/drawing/2014/main" id="{75BCFC02-2753-D9E9-0513-B7EB075ED783}"/>
              </a:ext>
            </a:extLst>
          </p:cNvPr>
          <p:cNvSpPr/>
          <p:nvPr/>
        </p:nvSpPr>
        <p:spPr>
          <a:xfrm>
            <a:off x="9077960" y="3458389"/>
            <a:ext cx="1098986" cy="13773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Left-Right 20">
            <a:extLst>
              <a:ext uri="{FF2B5EF4-FFF2-40B4-BE49-F238E27FC236}">
                <a16:creationId xmlns:a16="http://schemas.microsoft.com/office/drawing/2014/main" id="{F6572475-09E6-0792-7563-40FBE2576F62}"/>
              </a:ext>
            </a:extLst>
          </p:cNvPr>
          <p:cNvSpPr/>
          <p:nvPr/>
        </p:nvSpPr>
        <p:spPr>
          <a:xfrm>
            <a:off x="9093200" y="920007"/>
            <a:ext cx="1098986" cy="13773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Right 21">
            <a:extLst>
              <a:ext uri="{FF2B5EF4-FFF2-40B4-BE49-F238E27FC236}">
                <a16:creationId xmlns:a16="http://schemas.microsoft.com/office/drawing/2014/main" id="{A4701FD4-C8E5-03D7-D8CB-BE2F5F16244D}"/>
              </a:ext>
            </a:extLst>
          </p:cNvPr>
          <p:cNvSpPr/>
          <p:nvPr/>
        </p:nvSpPr>
        <p:spPr>
          <a:xfrm>
            <a:off x="9093200" y="1237040"/>
            <a:ext cx="1098986" cy="128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Arrow: Right 27">
            <a:extLst>
              <a:ext uri="{FF2B5EF4-FFF2-40B4-BE49-F238E27FC236}">
                <a16:creationId xmlns:a16="http://schemas.microsoft.com/office/drawing/2014/main" id="{73337F84-A578-5448-2741-5F7D1CBAEC4A}"/>
              </a:ext>
            </a:extLst>
          </p:cNvPr>
          <p:cNvSpPr/>
          <p:nvPr/>
        </p:nvSpPr>
        <p:spPr>
          <a:xfrm rot="10800000">
            <a:off x="9093200" y="618460"/>
            <a:ext cx="1098986" cy="128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Arrow: Left-Right 28">
            <a:extLst>
              <a:ext uri="{FF2B5EF4-FFF2-40B4-BE49-F238E27FC236}">
                <a16:creationId xmlns:a16="http://schemas.microsoft.com/office/drawing/2014/main" id="{FF3D099F-8895-40A7-B281-6ABC7FE178D5}"/>
              </a:ext>
            </a:extLst>
          </p:cNvPr>
          <p:cNvSpPr/>
          <p:nvPr/>
        </p:nvSpPr>
        <p:spPr>
          <a:xfrm>
            <a:off x="9093200" y="6007450"/>
            <a:ext cx="1098986" cy="13773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Arrow: Right 29">
            <a:extLst>
              <a:ext uri="{FF2B5EF4-FFF2-40B4-BE49-F238E27FC236}">
                <a16:creationId xmlns:a16="http://schemas.microsoft.com/office/drawing/2014/main" id="{6B2512A6-EF74-BC38-A30F-3D236DE15BF6}"/>
              </a:ext>
            </a:extLst>
          </p:cNvPr>
          <p:cNvSpPr/>
          <p:nvPr/>
        </p:nvSpPr>
        <p:spPr>
          <a:xfrm>
            <a:off x="9093200" y="3891280"/>
            <a:ext cx="1098986" cy="128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Arrow: Right 30">
            <a:extLst>
              <a:ext uri="{FF2B5EF4-FFF2-40B4-BE49-F238E27FC236}">
                <a16:creationId xmlns:a16="http://schemas.microsoft.com/office/drawing/2014/main" id="{3FAE4C24-8785-C540-3524-A4F52EE7F71C}"/>
              </a:ext>
            </a:extLst>
          </p:cNvPr>
          <p:cNvSpPr/>
          <p:nvPr/>
        </p:nvSpPr>
        <p:spPr>
          <a:xfrm>
            <a:off x="9093200" y="6502287"/>
            <a:ext cx="1098986" cy="128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6600FEAD-EF8E-FB15-CB9C-795640F643ED}"/>
              </a:ext>
            </a:extLst>
          </p:cNvPr>
          <p:cNvSpPr txBox="1"/>
          <p:nvPr/>
        </p:nvSpPr>
        <p:spPr>
          <a:xfrm>
            <a:off x="10223519" y="4863086"/>
            <a:ext cx="1566345" cy="738664"/>
          </a:xfrm>
          <a:prstGeom prst="rect">
            <a:avLst/>
          </a:prstGeom>
          <a:noFill/>
          <a:ln>
            <a:solidFill>
              <a:schemeClr val="tx1"/>
            </a:solidFill>
          </a:ln>
        </p:spPr>
        <p:txBody>
          <a:bodyPr wrap="square" rtlCol="0">
            <a:spAutoFit/>
          </a:bodyPr>
          <a:lstStyle/>
          <a:p>
            <a:r>
              <a:rPr lang="en-GB" sz="1400" dirty="0"/>
              <a:t>This death rate is multiplied by 2 for people with SMI</a:t>
            </a:r>
          </a:p>
        </p:txBody>
      </p:sp>
      <p:sp>
        <p:nvSpPr>
          <p:cNvPr id="35" name="Arrow: U-Turn 34">
            <a:extLst>
              <a:ext uri="{FF2B5EF4-FFF2-40B4-BE49-F238E27FC236}">
                <a16:creationId xmlns:a16="http://schemas.microsoft.com/office/drawing/2014/main" id="{81627E8E-CBA4-2262-5491-1B5224CAB404}"/>
              </a:ext>
            </a:extLst>
          </p:cNvPr>
          <p:cNvSpPr/>
          <p:nvPr/>
        </p:nvSpPr>
        <p:spPr>
          <a:xfrm rot="16200000" flipV="1">
            <a:off x="11218531" y="5773452"/>
            <a:ext cx="1368000" cy="288000"/>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6" name="Arrow: U-Turn 35">
            <a:extLst>
              <a:ext uri="{FF2B5EF4-FFF2-40B4-BE49-F238E27FC236}">
                <a16:creationId xmlns:a16="http://schemas.microsoft.com/office/drawing/2014/main" id="{8BF35AA9-CE01-090D-CF1B-8D2D35A7F47F}"/>
              </a:ext>
            </a:extLst>
          </p:cNvPr>
          <p:cNvSpPr/>
          <p:nvPr/>
        </p:nvSpPr>
        <p:spPr>
          <a:xfrm rot="5400000" flipV="1">
            <a:off x="8879653" y="1690178"/>
            <a:ext cx="1141595" cy="288000"/>
          </a:xfrm>
          <a:prstGeom prst="uturnArrow">
            <a:avLst>
              <a:gd name="adj1" fmla="val 25000"/>
              <a:gd name="adj2" fmla="val 25000"/>
              <a:gd name="adj3" fmla="val 25000"/>
              <a:gd name="adj4" fmla="val 43750"/>
              <a:gd name="adj5"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325371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253a20d-c735-4bfe-a8b7-3e6ab37f5f90}" enabled="0" method="" siteId="{3253a20d-c735-4bfe-a8b7-3e6ab37f5f90}" removed="1"/>
</clbl:labelList>
</file>

<file path=docProps/app.xml><?xml version="1.0" encoding="utf-8"?>
<Properties xmlns="http://schemas.openxmlformats.org/officeDocument/2006/extended-properties" xmlns:vt="http://schemas.openxmlformats.org/officeDocument/2006/docPropsVTypes">
  <TotalTime>0</TotalTime>
  <Words>279</Words>
  <Application>Microsoft Office PowerPoint</Application>
  <PresentationFormat>Widescreen</PresentationFormat>
  <Paragraphs>26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Heather Hopton - CED SPRCA</dc:creator>
  <cp:lastModifiedBy>Heather Hopton - CED SPRCA</cp:lastModifiedBy>
  <cp:revision>1</cp:revision>
  <dcterms:created xsi:type="dcterms:W3CDTF">2025-08-12T15:39:37Z</dcterms:created>
  <dcterms:modified xsi:type="dcterms:W3CDTF">2025-08-15T12:52:38Z</dcterms:modified>
</cp:coreProperties>
</file>